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Saved By Zero" charset="1" panose="00000400000000000000"/>
      <p:regular r:id="rId13"/>
    </p:embeddedFont>
    <p:embeddedFont>
      <p:font typeface="Helvetica" charset="1" panose="020B0504020202020204"/>
      <p:regular r:id="rId14"/>
    </p:embeddedFont>
    <p:embeddedFont>
      <p:font typeface="Ovo" charset="1" panose="02020502070400060406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VADbyOH6YK4.mp4" Type="http://schemas.openxmlformats.org/officeDocument/2006/relationships/video"/><Relationship Id="rId4" Target="../media/VADbyOH6YK4.mp4" Type="http://schemas.microsoft.com/office/2007/relationships/media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0.0000" end="10920.0000"/>
                </p14:media>
              </p:ext>
            </p:extLst>
          </p:nvPr>
        </p:nvPicPr>
        <p:blipFill>
          <a:blip r:embed="rId2"/>
          <a:srcRect l="0" t="657" r="0" b="657"/>
          <a:stretch>
            <a:fillRect/>
          </a:stretch>
        </p:blipFill>
        <p:spPr>
          <a:xfrm flipH="false" flipV="false">
            <a:off x="0" y="0"/>
            <a:ext cx="18288000" cy="10287000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640931" y="741488"/>
            <a:ext cx="17006138" cy="9332118"/>
          </a:xfrm>
          <a:custGeom>
            <a:avLst/>
            <a:gdLst/>
            <a:ahLst/>
            <a:cxnLst/>
            <a:rect r="r" b="b" t="t" l="l"/>
            <a:pathLst>
              <a:path h="9332118" w="17006138">
                <a:moveTo>
                  <a:pt x="0" y="0"/>
                </a:moveTo>
                <a:lnTo>
                  <a:pt x="17006138" y="0"/>
                </a:lnTo>
                <a:lnTo>
                  <a:pt x="17006138" y="9332118"/>
                </a:lnTo>
                <a:lnTo>
                  <a:pt x="0" y="93321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86815" y="3577975"/>
            <a:ext cx="14514371" cy="351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10"/>
              </a:lnSpc>
            </a:pPr>
            <a:r>
              <a:rPr lang="en-US" sz="6650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Hunting for Exoplanets with AI</a:t>
            </a:r>
          </a:p>
          <a:p>
            <a:pPr algn="ctr">
              <a:lnSpc>
                <a:spcPts val="931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658928" y="5999771"/>
            <a:ext cx="6970143" cy="39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0"/>
              </a:lnSpc>
            </a:pPr>
            <a:r>
              <a:rPr lang="en-US" sz="2192" spc="46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HZ-FIRST EXOPLANET TRIAGE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13625" y="7768165"/>
            <a:ext cx="2660749" cy="381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sz="2214" spc="-35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Rebooters2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16524086" y="1356194"/>
            <a:ext cx="1286297" cy="529858"/>
            <a:chOff x="0" y="0"/>
            <a:chExt cx="338778" cy="1395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778" cy="139551"/>
            </a:xfrm>
            <a:custGeom>
              <a:avLst/>
              <a:gdLst/>
              <a:ahLst/>
              <a:cxnLst/>
              <a:rect r="r" b="b" t="t" l="l"/>
              <a:pathLst>
                <a:path h="139551" w="338778">
                  <a:moveTo>
                    <a:pt x="69776" y="0"/>
                  </a:moveTo>
                  <a:lnTo>
                    <a:pt x="269002" y="0"/>
                  </a:lnTo>
                  <a:cubicBezTo>
                    <a:pt x="287508" y="0"/>
                    <a:pt x="305256" y="7351"/>
                    <a:pt x="318341" y="20437"/>
                  </a:cubicBezTo>
                  <a:cubicBezTo>
                    <a:pt x="331426" y="33522"/>
                    <a:pt x="338778" y="51270"/>
                    <a:pt x="338778" y="69776"/>
                  </a:cubicBezTo>
                  <a:lnTo>
                    <a:pt x="338778" y="69776"/>
                  </a:lnTo>
                  <a:cubicBezTo>
                    <a:pt x="338778" y="88281"/>
                    <a:pt x="331426" y="106029"/>
                    <a:pt x="318341" y="119114"/>
                  </a:cubicBezTo>
                  <a:cubicBezTo>
                    <a:pt x="305256" y="132200"/>
                    <a:pt x="287508" y="139551"/>
                    <a:pt x="269002" y="139551"/>
                  </a:cubicBezTo>
                  <a:lnTo>
                    <a:pt x="69776" y="139551"/>
                  </a:lnTo>
                  <a:cubicBezTo>
                    <a:pt x="51270" y="139551"/>
                    <a:pt x="33522" y="132200"/>
                    <a:pt x="20437" y="119114"/>
                  </a:cubicBezTo>
                  <a:cubicBezTo>
                    <a:pt x="7351" y="106029"/>
                    <a:pt x="0" y="88281"/>
                    <a:pt x="0" y="69776"/>
                  </a:cubicBezTo>
                  <a:lnTo>
                    <a:pt x="0" y="69776"/>
                  </a:lnTo>
                  <a:cubicBezTo>
                    <a:pt x="0" y="51270"/>
                    <a:pt x="7351" y="33522"/>
                    <a:pt x="20437" y="20437"/>
                  </a:cubicBezTo>
                  <a:cubicBezTo>
                    <a:pt x="33522" y="7351"/>
                    <a:pt x="51270" y="0"/>
                    <a:pt x="697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38778" cy="16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039288" y="762077"/>
            <a:ext cx="12163468" cy="84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64"/>
              </a:lnSpc>
              <a:spcBef>
                <a:spcPct val="0"/>
              </a:spcBef>
            </a:pPr>
            <a:r>
              <a:rPr lang="en-US" sz="5327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Rebooters2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763115"/>
            <a:ext cx="6597085" cy="73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2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Automatically identify exoplanets and highlight Habitable Zone (HZ) cases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212686"/>
            <a:ext cx="5832710" cy="1987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310" indent="-224655" lvl="1">
              <a:lnSpc>
                <a:spcPts val="2643"/>
              </a:lnSpc>
              <a:buFont typeface="Arial"/>
              <a:buChar char="•"/>
            </a:pPr>
            <a:r>
              <a:rPr lang="en-US" sz="20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Mohammed Redha Abdulla (mohaabdulla)</a:t>
            </a:r>
          </a:p>
          <a:p>
            <a:pPr algn="l" marL="449310" indent="-224655" lvl="1">
              <a:lnSpc>
                <a:spcPts val="2643"/>
              </a:lnSpc>
              <a:buFont typeface="Arial"/>
              <a:buChar char="•"/>
            </a:pPr>
            <a:r>
              <a:rPr lang="en-US" sz="20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Nawraa Sayed (nsayed)</a:t>
            </a:r>
          </a:p>
          <a:p>
            <a:pPr algn="l" marL="449310" indent="-224655" lvl="1">
              <a:lnSpc>
                <a:spcPts val="2643"/>
              </a:lnSpc>
              <a:buFont typeface="Arial"/>
              <a:buChar char="•"/>
            </a:pPr>
            <a:r>
              <a:rPr lang="en-US" sz="20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Anwar Alghanem (aalghanem)</a:t>
            </a:r>
          </a:p>
          <a:p>
            <a:pPr algn="l" marL="449310" indent="-224655" lvl="1">
              <a:lnSpc>
                <a:spcPts val="2643"/>
              </a:lnSpc>
              <a:buFont typeface="Arial"/>
              <a:buChar char="•"/>
            </a:pPr>
            <a:r>
              <a:rPr lang="en-US" sz="20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Ali Alqassab (alii_alqassab)</a:t>
            </a:r>
          </a:p>
          <a:p>
            <a:pPr algn="l" marL="449310" indent="-224655" lvl="1">
              <a:lnSpc>
                <a:spcPts val="2643"/>
              </a:lnSpc>
              <a:buFont typeface="Arial"/>
              <a:buChar char="•"/>
            </a:pPr>
            <a:r>
              <a:rPr lang="en-US" sz="20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Abdelrahman Ahmed (abdeahmed)</a:t>
            </a:r>
          </a:p>
          <a:p>
            <a:pPr algn="l" marL="449310" indent="-224655" lvl="1">
              <a:lnSpc>
                <a:spcPts val="2643"/>
              </a:lnSpc>
              <a:buFont typeface="Arial"/>
              <a:buChar char="•"/>
            </a:pPr>
            <a:r>
              <a:rPr lang="en-US" sz="20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Hussain Ali (hussain_hht)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76485"/>
            <a:ext cx="5960930" cy="41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5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Goal: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38235"/>
            <a:ext cx="5960930" cy="41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5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Stack: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424865"/>
            <a:ext cx="6597085" cy="73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2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Python, scikit-learn, optional LightGBM/XGBoost, Flask front-end (HTML/CSS), joblib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024125"/>
            <a:ext cx="6597085" cy="37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2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NASA Kepler/K2/TESS catalogs (open datasets)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637496"/>
            <a:ext cx="5960930" cy="41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5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Data: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4569800"/>
            <a:ext cx="5960930" cy="41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581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Group Members: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31435" y="3807202"/>
            <a:ext cx="5956565" cy="6479798"/>
            <a:chOff x="0" y="0"/>
            <a:chExt cx="1168172" cy="1270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8172" cy="1270786"/>
            </a:xfrm>
            <a:custGeom>
              <a:avLst/>
              <a:gdLst/>
              <a:ahLst/>
              <a:cxnLst/>
              <a:rect r="r" b="b" t="t" l="l"/>
              <a:pathLst>
                <a:path h="1270786" w="1168172">
                  <a:moveTo>
                    <a:pt x="0" y="0"/>
                  </a:moveTo>
                  <a:lnTo>
                    <a:pt x="1168172" y="0"/>
                  </a:lnTo>
                  <a:lnTo>
                    <a:pt x="1168172" y="1270786"/>
                  </a:lnTo>
                  <a:lnTo>
                    <a:pt x="0" y="1270786"/>
                  </a:lnTo>
                  <a:close/>
                </a:path>
              </a:pathLst>
            </a:custGeom>
            <a:blipFill>
              <a:blip r:embed="rId3"/>
              <a:stretch>
                <a:fillRect l="-1248" t="0" r="-48283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634077" y="8858345"/>
            <a:ext cx="3974680" cy="1003607"/>
          </a:xfrm>
          <a:custGeom>
            <a:avLst/>
            <a:gdLst/>
            <a:ahLst/>
            <a:cxnLst/>
            <a:rect r="r" b="b" t="t" l="l"/>
            <a:pathLst>
              <a:path h="1003607" w="3974680">
                <a:moveTo>
                  <a:pt x="0" y="1003606"/>
                </a:moveTo>
                <a:lnTo>
                  <a:pt x="3974681" y="1003606"/>
                </a:lnTo>
                <a:lnTo>
                  <a:pt x="3974681" y="0"/>
                </a:lnTo>
                <a:lnTo>
                  <a:pt x="0" y="0"/>
                </a:lnTo>
                <a:lnTo>
                  <a:pt x="0" y="10036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8142248" y="311556"/>
            <a:ext cx="3974680" cy="1003607"/>
          </a:xfrm>
          <a:custGeom>
            <a:avLst/>
            <a:gdLst/>
            <a:ahLst/>
            <a:cxnLst/>
            <a:rect r="r" b="b" t="t" l="l"/>
            <a:pathLst>
              <a:path h="1003607" w="3974680">
                <a:moveTo>
                  <a:pt x="3974680" y="0"/>
                </a:moveTo>
                <a:lnTo>
                  <a:pt x="0" y="0"/>
                </a:lnTo>
                <a:lnTo>
                  <a:pt x="0" y="1003607"/>
                </a:lnTo>
                <a:lnTo>
                  <a:pt x="3974680" y="1003607"/>
                </a:lnTo>
                <a:lnTo>
                  <a:pt x="39746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331435" y="0"/>
            <a:ext cx="5956565" cy="3807202"/>
            <a:chOff x="0" y="0"/>
            <a:chExt cx="1568807" cy="1002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8807" cy="1002720"/>
            </a:xfrm>
            <a:custGeom>
              <a:avLst/>
              <a:gdLst/>
              <a:ahLst/>
              <a:cxnLst/>
              <a:rect r="r" b="b" t="t" l="l"/>
              <a:pathLst>
                <a:path h="1002720" w="1568807">
                  <a:moveTo>
                    <a:pt x="0" y="0"/>
                  </a:moveTo>
                  <a:lnTo>
                    <a:pt x="1568807" y="0"/>
                  </a:lnTo>
                  <a:lnTo>
                    <a:pt x="1568807" y="1002720"/>
                  </a:lnTo>
                  <a:lnTo>
                    <a:pt x="0" y="10027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568807" cy="945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74606" y="1723646"/>
            <a:ext cx="4384694" cy="359910"/>
          </a:xfrm>
          <a:custGeom>
            <a:avLst/>
            <a:gdLst/>
            <a:ahLst/>
            <a:cxnLst/>
            <a:rect r="r" b="b" t="t" l="l"/>
            <a:pathLst>
              <a:path h="359910" w="4384694">
                <a:moveTo>
                  <a:pt x="0" y="0"/>
                </a:moveTo>
                <a:lnTo>
                  <a:pt x="4384694" y="0"/>
                </a:lnTo>
                <a:lnTo>
                  <a:pt x="4384694" y="359910"/>
                </a:lnTo>
                <a:lnTo>
                  <a:pt x="0" y="3599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54966" y="1173497"/>
            <a:ext cx="9964481" cy="129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5"/>
              </a:lnSpc>
            </a:pPr>
            <a:r>
              <a:rPr lang="en-US" sz="3689" spc="258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Manual Vetting Slows Exoplan</a:t>
            </a:r>
            <a:r>
              <a:rPr lang="en-US" sz="3689" spc="258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et Discovery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4966" y="3769102"/>
            <a:ext cx="9332051" cy="68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461" indent="-212730" lvl="1">
              <a:lnSpc>
                <a:spcPts val="2758"/>
              </a:lnSpc>
              <a:buFont typeface="Arial"/>
              <a:buChar char="•"/>
            </a:pPr>
            <a:r>
              <a:rPr lang="en-US" sz="1970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Manual vetting of transit catalogs is slow, i</a:t>
            </a:r>
            <a:r>
              <a:rPr lang="en-US" sz="1970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nconsistent, and hard to reproduce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4966" y="6228522"/>
            <a:ext cx="9742520" cy="103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461" indent="-212730" lvl="1">
              <a:lnSpc>
                <a:spcPts val="2758"/>
              </a:lnSpc>
              <a:buFont typeface="Arial"/>
              <a:buChar char="•"/>
            </a:pPr>
            <a:r>
              <a:rPr lang="en-US" sz="1970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Our pipeline automatically scores candidates and surfaces likely Habitable Zone (HZ) planets first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4966" y="4999092"/>
            <a:ext cx="9332051" cy="68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461" indent="-212730" lvl="1">
              <a:lnSpc>
                <a:spcPts val="2758"/>
              </a:lnSpc>
              <a:buFont typeface="Arial"/>
              <a:buChar char="•"/>
            </a:pPr>
            <a:r>
              <a:rPr lang="en-US" sz="1970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Researchers need fast, traceable triage to prioritize promising targets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4966" y="7668817"/>
            <a:ext cx="9610795" cy="68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461" indent="-212730" lvl="1">
              <a:lnSpc>
                <a:spcPts val="2758"/>
              </a:lnSpc>
              <a:buFont typeface="Arial"/>
              <a:buChar char="•"/>
            </a:pPr>
            <a:r>
              <a:rPr lang="en-US" sz="1970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Impact: Cuts follow-up time and increases HZ discovery yield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333" r="0" b="-10333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30782" y="1007163"/>
            <a:ext cx="0" cy="9279837"/>
          </a:xfrm>
          <a:prstGeom prst="line">
            <a:avLst/>
          </a:prstGeom>
          <a:ln cap="flat" w="38100">
            <a:gradFill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08467" y="4218504"/>
            <a:ext cx="856841" cy="85684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4344" y="7958364"/>
            <a:ext cx="856841" cy="85684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4344" y="6125725"/>
            <a:ext cx="856841" cy="85684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74344" y="1159563"/>
            <a:ext cx="13579026" cy="148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0"/>
              </a:lnSpc>
            </a:pPr>
            <a:r>
              <a:rPr lang="en-US" sz="6119" spc="-293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🪐 Data Pipeline &amp; Feature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80039" y="4440854"/>
            <a:ext cx="4984779" cy="28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2314" spc="-37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Inputs &amp; Cleaning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1509" y="4385171"/>
            <a:ext cx="790757" cy="64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8"/>
              </a:lnSpc>
            </a:pPr>
            <a:r>
              <a:rPr lang="en-US" sz="5127" spc="-82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7386" y="8163791"/>
            <a:ext cx="790757" cy="64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8"/>
              </a:lnSpc>
            </a:pPr>
            <a:r>
              <a:rPr lang="en-US" sz="5127" spc="-82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7386" y="6286348"/>
            <a:ext cx="790757" cy="64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8"/>
              </a:lnSpc>
            </a:pPr>
            <a:r>
              <a:rPr lang="en-US" sz="5127" spc="-82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0039" y="4844967"/>
            <a:ext cx="8613785" cy="60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2054" spc="-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orbital period, depth, duration, radius, stellar parameters → cleaned with median imputation, scaling, and safe columns only.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45916" y="8057679"/>
            <a:ext cx="4984779" cy="28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2314" spc="-37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HZ Labeling &amp; Split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45916" y="8461792"/>
            <a:ext cx="8647908" cy="60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2054" spc="-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Habitable Zone (HZ) flag from stellar luminosity (L ∝ R⋆² T⋆⁴); stratified split by class + HZ to preserve rare positives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45916" y="6269495"/>
            <a:ext cx="4865468" cy="288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2314" spc="-37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Feature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45916" y="6673607"/>
            <a:ext cx="8613785" cy="600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205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log transforms, normalized depths, ratios, and duration/period features to capture physical patterns</a:t>
            </a:r>
          </a:p>
        </p:txBody>
      </p:sp>
      <p:sp>
        <p:nvSpPr>
          <p:cNvPr name="Freeform 23" id="23"/>
          <p:cNvSpPr/>
          <p:nvPr/>
        </p:nvSpPr>
        <p:spPr>
          <a:xfrm flipH="false" flipV="true" rot="0">
            <a:off x="11763867" y="8942245"/>
            <a:ext cx="3974680" cy="1003607"/>
          </a:xfrm>
          <a:custGeom>
            <a:avLst/>
            <a:gdLst/>
            <a:ahLst/>
            <a:cxnLst/>
            <a:rect r="r" b="b" t="t" l="l"/>
            <a:pathLst>
              <a:path h="1003607" w="3974680">
                <a:moveTo>
                  <a:pt x="0" y="1003607"/>
                </a:moveTo>
                <a:lnTo>
                  <a:pt x="3974680" y="1003607"/>
                </a:lnTo>
                <a:lnTo>
                  <a:pt x="3974680" y="0"/>
                </a:lnTo>
                <a:lnTo>
                  <a:pt x="0" y="0"/>
                </a:lnTo>
                <a:lnTo>
                  <a:pt x="0" y="100360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3967416" y="1028700"/>
            <a:ext cx="3974680" cy="1003607"/>
          </a:xfrm>
          <a:custGeom>
            <a:avLst/>
            <a:gdLst/>
            <a:ahLst/>
            <a:cxnLst/>
            <a:rect r="r" b="b" t="t" l="l"/>
            <a:pathLst>
              <a:path h="1003607" w="3974680">
                <a:moveTo>
                  <a:pt x="3974680" y="0"/>
                </a:moveTo>
                <a:lnTo>
                  <a:pt x="0" y="0"/>
                </a:lnTo>
                <a:lnTo>
                  <a:pt x="0" y="1003607"/>
                </a:lnTo>
                <a:lnTo>
                  <a:pt x="3974680" y="1003607"/>
                </a:lnTo>
                <a:lnTo>
                  <a:pt x="397468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139287" y="2633945"/>
            <a:ext cx="5628166" cy="6122552"/>
            <a:chOff x="0" y="0"/>
            <a:chExt cx="1168172" cy="127078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8172" cy="1270786"/>
            </a:xfrm>
            <a:custGeom>
              <a:avLst/>
              <a:gdLst/>
              <a:ahLst/>
              <a:cxnLst/>
              <a:rect r="r" b="b" t="t" l="l"/>
              <a:pathLst>
                <a:path h="1270786" w="1168172">
                  <a:moveTo>
                    <a:pt x="0" y="0"/>
                  </a:moveTo>
                  <a:lnTo>
                    <a:pt x="1168172" y="0"/>
                  </a:lnTo>
                  <a:lnTo>
                    <a:pt x="1168172" y="1270786"/>
                  </a:lnTo>
                  <a:lnTo>
                    <a:pt x="0" y="1270786"/>
                  </a:lnTo>
                  <a:close/>
                </a:path>
              </a:pathLst>
            </a:custGeom>
            <a:blipFill>
              <a:blip r:embed="rId5"/>
              <a:stretch>
                <a:fillRect l="-31744" t="0" r="-18562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47134" y="0"/>
            <a:ext cx="2159135" cy="10287000"/>
            <a:chOff x="0" y="0"/>
            <a:chExt cx="568661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661" cy="2709333"/>
            </a:xfrm>
            <a:custGeom>
              <a:avLst/>
              <a:gdLst/>
              <a:ahLst/>
              <a:cxnLst/>
              <a:rect r="r" b="b" t="t" l="l"/>
              <a:pathLst>
                <a:path h="2709333" w="568661">
                  <a:moveTo>
                    <a:pt x="0" y="0"/>
                  </a:moveTo>
                  <a:lnTo>
                    <a:pt x="568661" y="0"/>
                  </a:lnTo>
                  <a:lnTo>
                    <a:pt x="568661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57150"/>
              <a:ext cx="568661" cy="2652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45441" y="892123"/>
            <a:ext cx="12383487" cy="291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0"/>
              </a:lnSpc>
            </a:pPr>
            <a:r>
              <a:rPr lang="en-US" sz="6119" spc="-293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⚙️ Modeling Pipeline &amp; Tuning Strategy</a:t>
            </a:r>
          </a:p>
          <a:p>
            <a:pPr algn="l">
              <a:lnSpc>
                <a:spcPts val="5690"/>
              </a:lnSpc>
            </a:pPr>
          </a:p>
          <a:p>
            <a:pPr algn="l">
              <a:lnSpc>
                <a:spcPts val="569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45441" y="4574398"/>
            <a:ext cx="4582532" cy="30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2414" spc="-38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Core Models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5441" y="4972085"/>
            <a:ext cx="10575467" cy="62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075" spc="-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HistGradientBoosting and RandomForest (optionally LightGBM/XGBoost) with an IsolationForest filter to protect rare HZ positives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5441" y="7496476"/>
            <a:ext cx="5953819" cy="30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2414" spc="-38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Threshold &amp; Calibration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5441" y="7891063"/>
            <a:ext cx="10575467" cy="62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075" spc="-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dual thresholds ensure 100% HZ recall on validation; optional isotonic calibration and soft-voting ensemble for stability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5441" y="6035437"/>
            <a:ext cx="6451432" cy="30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5"/>
              </a:lnSpc>
            </a:pPr>
            <a:r>
              <a:rPr lang="en-US" sz="2414" spc="-38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Balancing &amp; Validation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5441" y="6430025"/>
            <a:ext cx="10575467" cy="62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2075" spc="-4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SMOTE (optional) and HZ-weighted sampling; Monte-Carlo cross-validation (60 runs) with PR-AUC and F1 for model selection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102786" y="5643168"/>
            <a:ext cx="6588628" cy="548036"/>
            <a:chOff x="0" y="0"/>
            <a:chExt cx="1739884" cy="1447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39884" cy="144722"/>
            </a:xfrm>
            <a:custGeom>
              <a:avLst/>
              <a:gdLst/>
              <a:ahLst/>
              <a:cxnLst/>
              <a:rect r="r" b="b" t="t" l="l"/>
              <a:pathLst>
                <a:path h="144722" w="1739884">
                  <a:moveTo>
                    <a:pt x="72361" y="0"/>
                  </a:moveTo>
                  <a:lnTo>
                    <a:pt x="1667523" y="0"/>
                  </a:lnTo>
                  <a:cubicBezTo>
                    <a:pt x="1686715" y="0"/>
                    <a:pt x="1705120" y="7624"/>
                    <a:pt x="1718690" y="21194"/>
                  </a:cubicBezTo>
                  <a:cubicBezTo>
                    <a:pt x="1732261" y="34764"/>
                    <a:pt x="1739884" y="53170"/>
                    <a:pt x="1739884" y="72361"/>
                  </a:cubicBezTo>
                  <a:lnTo>
                    <a:pt x="1739884" y="72361"/>
                  </a:lnTo>
                  <a:cubicBezTo>
                    <a:pt x="1739884" y="91552"/>
                    <a:pt x="1732261" y="109958"/>
                    <a:pt x="1718690" y="123528"/>
                  </a:cubicBezTo>
                  <a:cubicBezTo>
                    <a:pt x="1705120" y="137098"/>
                    <a:pt x="1686715" y="144722"/>
                    <a:pt x="1667523" y="144722"/>
                  </a:cubicBezTo>
                  <a:lnTo>
                    <a:pt x="72361" y="144722"/>
                  </a:lnTo>
                  <a:cubicBezTo>
                    <a:pt x="53170" y="144722"/>
                    <a:pt x="34764" y="137098"/>
                    <a:pt x="21194" y="123528"/>
                  </a:cubicBezTo>
                  <a:cubicBezTo>
                    <a:pt x="7624" y="109958"/>
                    <a:pt x="0" y="91552"/>
                    <a:pt x="0" y="72361"/>
                  </a:cubicBezTo>
                  <a:lnTo>
                    <a:pt x="0" y="72361"/>
                  </a:lnTo>
                  <a:cubicBezTo>
                    <a:pt x="0" y="53170"/>
                    <a:pt x="7624" y="34764"/>
                    <a:pt x="21194" y="21194"/>
                  </a:cubicBezTo>
                  <a:cubicBezTo>
                    <a:pt x="34764" y="7624"/>
                    <a:pt x="53170" y="0"/>
                    <a:pt x="723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739884" cy="173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01380" y="7770183"/>
            <a:ext cx="6527029" cy="548036"/>
            <a:chOff x="0" y="0"/>
            <a:chExt cx="1723618" cy="1447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618" cy="144722"/>
            </a:xfrm>
            <a:custGeom>
              <a:avLst/>
              <a:gdLst/>
              <a:ahLst/>
              <a:cxnLst/>
              <a:rect r="r" b="b" t="t" l="l"/>
              <a:pathLst>
                <a:path h="144722" w="1723618">
                  <a:moveTo>
                    <a:pt x="72361" y="0"/>
                  </a:moveTo>
                  <a:lnTo>
                    <a:pt x="1651257" y="0"/>
                  </a:lnTo>
                  <a:cubicBezTo>
                    <a:pt x="1670448" y="0"/>
                    <a:pt x="1688853" y="7624"/>
                    <a:pt x="1702424" y="21194"/>
                  </a:cubicBezTo>
                  <a:cubicBezTo>
                    <a:pt x="1715994" y="34764"/>
                    <a:pt x="1723618" y="53170"/>
                    <a:pt x="1723618" y="72361"/>
                  </a:cubicBezTo>
                  <a:lnTo>
                    <a:pt x="1723618" y="72361"/>
                  </a:lnTo>
                  <a:cubicBezTo>
                    <a:pt x="1723618" y="91552"/>
                    <a:pt x="1715994" y="109958"/>
                    <a:pt x="1702424" y="123528"/>
                  </a:cubicBezTo>
                  <a:cubicBezTo>
                    <a:pt x="1688853" y="137098"/>
                    <a:pt x="1670448" y="144722"/>
                    <a:pt x="1651257" y="144722"/>
                  </a:cubicBezTo>
                  <a:lnTo>
                    <a:pt x="72361" y="144722"/>
                  </a:lnTo>
                  <a:cubicBezTo>
                    <a:pt x="53170" y="144722"/>
                    <a:pt x="34764" y="137098"/>
                    <a:pt x="21194" y="123528"/>
                  </a:cubicBezTo>
                  <a:cubicBezTo>
                    <a:pt x="7624" y="109958"/>
                    <a:pt x="0" y="91552"/>
                    <a:pt x="0" y="72361"/>
                  </a:cubicBezTo>
                  <a:lnTo>
                    <a:pt x="0" y="72361"/>
                  </a:lnTo>
                  <a:cubicBezTo>
                    <a:pt x="0" y="53170"/>
                    <a:pt x="7624" y="34764"/>
                    <a:pt x="21194" y="21194"/>
                  </a:cubicBezTo>
                  <a:cubicBezTo>
                    <a:pt x="34764" y="7624"/>
                    <a:pt x="53170" y="0"/>
                    <a:pt x="723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723618" cy="173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534823" y="3689195"/>
            <a:ext cx="277941" cy="27794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38100" cap="sq">
              <a:gradFill>
                <a:gsLst>
                  <a:gs pos="0">
                    <a:srgbClr val="595D6B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8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1620548" y="5778216"/>
            <a:ext cx="277941" cy="27794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38100" cap="sq">
              <a:gradFill>
                <a:gsLst>
                  <a:gs pos="0">
                    <a:srgbClr val="595D6B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8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1620548" y="7905231"/>
            <a:ext cx="277941" cy="27794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w="38100" cap="sq">
              <a:gradFill>
                <a:gsLst>
                  <a:gs pos="0">
                    <a:srgbClr val="595D6B">
                      <a:alpha val="100000"/>
                    </a:srgbClr>
                  </a:gs>
                  <a:gs pos="100000">
                    <a:srgbClr val="000000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8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09314" y="3554147"/>
            <a:ext cx="6313900" cy="548036"/>
            <a:chOff x="0" y="0"/>
            <a:chExt cx="1667336" cy="1447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67336" cy="144722"/>
            </a:xfrm>
            <a:custGeom>
              <a:avLst/>
              <a:gdLst/>
              <a:ahLst/>
              <a:cxnLst/>
              <a:rect r="r" b="b" t="t" l="l"/>
              <a:pathLst>
                <a:path h="144722" w="1667336">
                  <a:moveTo>
                    <a:pt x="72361" y="0"/>
                  </a:moveTo>
                  <a:lnTo>
                    <a:pt x="1594975" y="0"/>
                  </a:lnTo>
                  <a:cubicBezTo>
                    <a:pt x="1614166" y="0"/>
                    <a:pt x="1632571" y="7624"/>
                    <a:pt x="1646142" y="21194"/>
                  </a:cubicBezTo>
                  <a:cubicBezTo>
                    <a:pt x="1659712" y="34764"/>
                    <a:pt x="1667336" y="53170"/>
                    <a:pt x="1667336" y="72361"/>
                  </a:cubicBezTo>
                  <a:lnTo>
                    <a:pt x="1667336" y="72361"/>
                  </a:lnTo>
                  <a:cubicBezTo>
                    <a:pt x="1667336" y="91552"/>
                    <a:pt x="1659712" y="109958"/>
                    <a:pt x="1646142" y="123528"/>
                  </a:cubicBezTo>
                  <a:cubicBezTo>
                    <a:pt x="1632571" y="137098"/>
                    <a:pt x="1614166" y="144722"/>
                    <a:pt x="1594975" y="144722"/>
                  </a:cubicBezTo>
                  <a:lnTo>
                    <a:pt x="72361" y="144722"/>
                  </a:lnTo>
                  <a:cubicBezTo>
                    <a:pt x="53170" y="144722"/>
                    <a:pt x="34764" y="137098"/>
                    <a:pt x="21194" y="123528"/>
                  </a:cubicBezTo>
                  <a:cubicBezTo>
                    <a:pt x="7624" y="109958"/>
                    <a:pt x="0" y="91552"/>
                    <a:pt x="0" y="72361"/>
                  </a:cubicBezTo>
                  <a:lnTo>
                    <a:pt x="0" y="72361"/>
                  </a:lnTo>
                  <a:cubicBezTo>
                    <a:pt x="0" y="53170"/>
                    <a:pt x="7624" y="34764"/>
                    <a:pt x="21194" y="21194"/>
                  </a:cubicBezTo>
                  <a:cubicBezTo>
                    <a:pt x="34764" y="7624"/>
                    <a:pt x="53170" y="0"/>
                    <a:pt x="723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95D6B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54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667336" cy="173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6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20548" y="1008279"/>
            <a:ext cx="13110291" cy="148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25"/>
              </a:lnSpc>
              <a:spcBef>
                <a:spcPct val="0"/>
              </a:spcBef>
            </a:pPr>
            <a:r>
              <a:rPr lang="en-US" sz="4656" spc="18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💻 Interactive Web Interface for Rapid Triage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76254" y="4329960"/>
            <a:ext cx="12122166" cy="40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09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upload CSV → run model → instantly view metrics and identified HZ planet names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46262" y="3622870"/>
            <a:ext cx="5666239" cy="37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210">
                <a:solidFill>
                  <a:srgbClr val="F7F3F2"/>
                </a:solidFill>
                <a:latin typeface="Saved By Zero"/>
                <a:ea typeface="Saved By Zero"/>
                <a:cs typeface="Saved By Zero"/>
                <a:sym typeface="Saved By Zero"/>
              </a:rPr>
              <a:t>Streamlined Workflow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39735" y="5711891"/>
            <a:ext cx="5983479" cy="37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210">
                <a:solidFill>
                  <a:srgbClr val="F7F3F2"/>
                </a:solidFill>
                <a:latin typeface="Saved By Zero"/>
                <a:ea typeface="Saved By Zero"/>
                <a:cs typeface="Saved By Zero"/>
                <a:sym typeface="Saved By Zero"/>
              </a:rPr>
              <a:t>Dashboard Features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76254" y="7838906"/>
            <a:ext cx="5698464" cy="37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4"/>
              </a:lnSpc>
            </a:pPr>
            <a:r>
              <a:rPr lang="en-US" sz="2210">
                <a:solidFill>
                  <a:srgbClr val="F7F3F2"/>
                </a:solidFill>
                <a:latin typeface="Saved By Zero"/>
                <a:ea typeface="Saved By Zero"/>
                <a:cs typeface="Saved By Zero"/>
                <a:sym typeface="Saved By Zero"/>
              </a:rPr>
              <a:t>Accessibility &amp; Outputs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76254" y="6524579"/>
            <a:ext cx="12122166" cy="40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09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model overview, confusion matrix, thresholds, and PR metrics in a clean, responsive layout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01380" y="8756370"/>
            <a:ext cx="12122166" cy="822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7"/>
              </a:lnSpc>
            </a:pPr>
            <a:r>
              <a:rPr lang="en-US" sz="209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high-contrast design, keyboard navigation, print-ready summaries, and JSON export (results.json) for further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72744" y="1222354"/>
            <a:ext cx="15210132" cy="309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1"/>
              </a:lnSpc>
            </a:pPr>
            <a:r>
              <a:rPr lang="en-US" sz="4408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🚀 Toward Faster, Transparent Exoplanet Discovery</a:t>
            </a:r>
          </a:p>
          <a:p>
            <a:pPr algn="l">
              <a:lnSpc>
                <a:spcPts val="6171"/>
              </a:lnSpc>
            </a:pPr>
          </a:p>
          <a:p>
            <a:pPr algn="l">
              <a:lnSpc>
                <a:spcPts val="617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72744" y="4820900"/>
            <a:ext cx="12101149" cy="80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delivers faster, auditable triage centered on potentially habitable (HZ) worlds, improving research efficiency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2744" y="6569357"/>
            <a:ext cx="12101149" cy="80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add light-curve features, uncertainty estimates, active learning, ExoFOP integration, and HZ climatology layers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2744" y="8319891"/>
            <a:ext cx="12101149" cy="80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transparent features, configurable thresholds, human-in-the-loop review, and open-source code with full configs and</a:t>
            </a:r>
            <a:r>
              <a:rPr lang="en-US" sz="2299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 docs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72744" y="4243792"/>
            <a:ext cx="7208783" cy="38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282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2744" y="5992248"/>
            <a:ext cx="6146196" cy="38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282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Next Steps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2744" y="7742782"/>
            <a:ext cx="6146196" cy="38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2282">
                <a:solidFill>
                  <a:srgbClr val="FFFFFF"/>
                </a:solidFill>
                <a:latin typeface="Saved By Zero"/>
                <a:ea typeface="Saved By Zero"/>
                <a:cs typeface="Saved By Zero"/>
                <a:sym typeface="Saved By Zero"/>
              </a:rPr>
              <a:t>Open Science &amp; Usability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DAG0eWLBRt4</dc:identifier>
  <dcterms:modified xsi:type="dcterms:W3CDTF">2011-08-01T06:04:30Z</dcterms:modified>
  <cp:revision>1</cp:revision>
  <dc:title>Blue Modern Technology Keynote Presentation</dc:title>
</cp:coreProperties>
</file>